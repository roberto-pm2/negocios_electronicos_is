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Nuni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.fntdata"/><Relationship Id="rId25" Type="http://schemas.openxmlformats.org/officeDocument/2006/relationships/font" Target="fonts/Nunito-regular.fntdata"/><Relationship Id="rId28" Type="http://schemas.openxmlformats.org/officeDocument/2006/relationships/font" Target="fonts/Nunito-boldItalic.fntdata"/><Relationship Id="rId27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af13f43c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1af13f43c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80eb5948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180eb5948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180eb5948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180eb594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80eb5948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180eb5948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80eb5948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180eb5948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af21c8ef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af21c8ef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af13f43c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1af13f43c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af13f43c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1af13f43c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af13f43c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1af13f43c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af13f43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1af13f43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af21c8ef0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1af21c8ef0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1af21c8ef0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1af21c8ef0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1af13f43c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1af13f43c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1af21c8ef0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1af21c8ef0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af21c8ef0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af21c8ef0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af21c8ef0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1af21c8ef0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4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47" name="Google Shape;47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51" name="Google Shape;51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4" cy="1261514"/>
            <a:chOff x="6917201" y="0"/>
            <a:chExt cx="2227776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206925" y="1016200"/>
            <a:ext cx="85206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980"/>
              <a:t>ReservaYa</a:t>
            </a:r>
            <a:endParaRPr sz="398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271700" y="4179100"/>
            <a:ext cx="8520600" cy="1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30" name="Google Shape;130;p13"/>
          <p:cNvSpPr txBox="1"/>
          <p:nvPr>
            <p:ph type="ctrTitle"/>
          </p:nvPr>
        </p:nvSpPr>
        <p:spPr>
          <a:xfrm>
            <a:off x="2895600" y="2239825"/>
            <a:ext cx="34767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Cristian Omar Alvarado Rodríguez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Roberto Pacheco Mendoza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Esther Sarahí Carrillo Quintero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Leonardo García Nieves</a:t>
            </a:r>
            <a:endParaRPr sz="298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lang="es"/>
              <a:t>Propuesta de Valor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4161925" y="1689450"/>
            <a:ext cx="4162800" cy="27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ReservaYa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busca posicionarse como la solución integral para estudiantes foráneos, facilitando su adaptación a una nueva ciudad. La plataforma centraliza servicios clave como alojamiento, traslados y gestión financiera, ofreciendo conveniencia, accesibilidad y soporte continuo. Nuestro objetivo es transformar y simplificar la experiencia estudiantil en un solo lugar.</a:t>
            </a:r>
            <a:endParaRPr sz="1800"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800" y="1689450"/>
            <a:ext cx="3038500" cy="30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/>
              <a:t>Visión del producto y alcance del proyecto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593575" y="290125"/>
            <a:ext cx="8038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40">
                <a:solidFill>
                  <a:srgbClr val="FFFFFF"/>
                </a:solidFill>
              </a:rPr>
              <a:t>Alojamiento hecho facil</a:t>
            </a:r>
            <a:endParaRPr sz="3040">
              <a:solidFill>
                <a:srgbClr val="FFFFFF"/>
              </a:solidFill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86275" y="1188600"/>
            <a:ext cx="78531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Encuentra tu espacio ideal:</a:t>
            </a:r>
            <a:r>
              <a:rPr lang="es">
                <a:solidFill>
                  <a:schemeClr val="dk2"/>
                </a:solidFill>
              </a:rPr>
              <a:t> Filtra por precio, ubicación, tipo de habitación y servicios incluidos, como internet, lavandería o muebles.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Detalles que importan:</a:t>
            </a:r>
            <a:r>
              <a:rPr lang="es">
                <a:solidFill>
                  <a:schemeClr val="dk2"/>
                </a:solidFill>
              </a:rPr>
              <a:t> Fotos reales, descripciones completas, reglas del lugar y todo lo que necesitas saber sobre el entorno.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Conecta directamente:</a:t>
            </a:r>
            <a:r>
              <a:rPr lang="es">
                <a:solidFill>
                  <a:schemeClr val="dk2"/>
                </a:solidFill>
              </a:rPr>
              <a:t> Habla con propietarios o agentes mediante nuestro chat interno antes de decidir.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Reserva y paga al instante:</a:t>
            </a:r>
            <a:r>
              <a:rPr lang="es">
                <a:solidFill>
                  <a:schemeClr val="dk2"/>
                </a:solidFill>
              </a:rPr>
              <a:t> Confirma tu lugar y realiza pagos de forma segura desde la app.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>
                <a:solidFill>
                  <a:schemeClr val="dk2"/>
                </a:solidFill>
              </a:rPr>
              <a:t>Organiza tus opciones: Guarda tus favoritos y compara fácilmente para tomar la mejor decisión.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593575" y="290125"/>
            <a:ext cx="8038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2565"/>
              <a:buNone/>
            </a:pPr>
            <a:r>
              <a:rPr lang="es" sz="3040">
                <a:solidFill>
                  <a:srgbClr val="FFFFFF"/>
                </a:solidFill>
              </a:rPr>
              <a:t>Controla tus finanzas con nuestro asistente financiero</a:t>
            </a:r>
            <a:endParaRPr sz="3040">
              <a:solidFill>
                <a:srgbClr val="FFFFFF"/>
              </a:solidFill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686275" y="1188600"/>
            <a:ext cx="78531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Gestiona tus ingresos y gastos:</a:t>
            </a:r>
            <a:r>
              <a:rPr lang="es">
                <a:solidFill>
                  <a:schemeClr val="dk2"/>
                </a:solidFill>
              </a:rPr>
              <a:t> Registra todos tus movimientos financieros en categorías claras y organizadas.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Mantén el control con reportes visuales:</a:t>
            </a:r>
            <a:r>
              <a:rPr lang="es">
                <a:solidFill>
                  <a:schemeClr val="dk2"/>
                </a:solidFill>
              </a:rPr>
              <a:t> Accede a gráficos y resúmenes mensuales o anuales para ajustar tu presupuesto.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Evita sorpresas: </a:t>
            </a:r>
            <a:r>
              <a:rPr lang="es">
                <a:solidFill>
                  <a:schemeClr val="dk2"/>
                </a:solidFill>
              </a:rPr>
              <a:t>Recibe alertas cuando estés cerca de exceder tus límites de gasto.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Personaliza tu experiencia:</a:t>
            </a:r>
            <a:r>
              <a:rPr lang="es">
                <a:solidFill>
                  <a:schemeClr val="dk2"/>
                </a:solidFill>
              </a:rPr>
              <a:t> Crea categorías que se ajusten a tu estilo de vida, como "Gimnasio" o "Salidas".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Ahorra con propósito:</a:t>
            </a:r>
            <a:r>
              <a:rPr lang="es">
                <a:solidFill>
                  <a:schemeClr val="dk2"/>
                </a:solidFill>
              </a:rPr>
              <a:t> Establece metas de ahorro y sigue tu progreso hacia ellas.</a:t>
            </a:r>
            <a:endParaRPr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">
                <a:solidFill>
                  <a:schemeClr val="dk2"/>
                </a:solidFill>
              </a:rPr>
              <a:t>Prepárate para pagos recurrentes:</a:t>
            </a:r>
            <a:r>
              <a:rPr lang="es">
                <a:solidFill>
                  <a:schemeClr val="dk2"/>
                </a:solidFill>
              </a:rPr>
              <a:t> Identifica gastos fijos como renta y servicios para que nunca te tomen desprevenido.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593575" y="290125"/>
            <a:ext cx="8038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40">
                <a:solidFill>
                  <a:srgbClr val="FFFFFF"/>
                </a:solidFill>
              </a:rPr>
              <a:t>Simplifica tus traslados</a:t>
            </a:r>
            <a:endParaRPr sz="3040">
              <a:solidFill>
                <a:srgbClr val="FFFFFF"/>
              </a:solidFill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86275" y="1188600"/>
            <a:ext cx="78531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Rutas de Transporte Público</a:t>
            </a:r>
            <a:r>
              <a:rPr lang="es">
                <a:solidFill>
                  <a:schemeClr val="dk2"/>
                </a:solidFill>
              </a:rPr>
              <a:t>: Integración con APIs de transporte para mostrar rutas de autobuses, metro, y otros medios de transporte cerca del alojamiento y de la universidad.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Recordatorios de Horarios de Transporte</a:t>
            </a:r>
            <a:r>
              <a:rPr lang="es">
                <a:solidFill>
                  <a:schemeClr val="dk2"/>
                </a:solidFill>
              </a:rPr>
              <a:t>: Configuración de alarmas para alertar al usuario cuando deba salir para llegar a tiempo a sus clases o compromisos.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Cálculo de Tiempo de Traslado</a:t>
            </a:r>
            <a:r>
              <a:rPr lang="es">
                <a:solidFill>
                  <a:schemeClr val="dk2"/>
                </a:solidFill>
              </a:rPr>
              <a:t>: La app estima el tiempo de viaje entre el alojamiento y los lugares frecuentes del usuario, con actualizaciones en tiempo real para evitar demoras.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Mapas de Paradas y Estaciones Cercanas</a:t>
            </a:r>
            <a:r>
              <a:rPr lang="es">
                <a:solidFill>
                  <a:schemeClr val="dk2"/>
                </a:solidFill>
              </a:rPr>
              <a:t>: Un mapa que muestra las paradas de autobús y estaciones de metro más cercanas al usuario para que siempre tenga alternativas de transporte.</a:t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593575" y="290125"/>
            <a:ext cx="8038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2565"/>
              <a:buNone/>
            </a:pPr>
            <a:r>
              <a:rPr lang="es" sz="3040">
                <a:solidFill>
                  <a:srgbClr val="FFFFFF"/>
                </a:solidFill>
              </a:rPr>
              <a:t>Organiza tu tiempo con nuestra agenda inteligente</a:t>
            </a:r>
            <a:endParaRPr sz="3040">
              <a:solidFill>
                <a:srgbClr val="FFFFFF"/>
              </a:solidFill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686275" y="1188600"/>
            <a:ext cx="7853100" cy="3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Gestión de clases y tareas: </a:t>
            </a:r>
            <a:r>
              <a:rPr lang="es">
                <a:solidFill>
                  <a:schemeClr val="dk2"/>
                </a:solidFill>
              </a:rPr>
              <a:t>Crea horarios personalizados para tus clases, compromisos y actividades académicas.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Recordatorios automáticos: </a:t>
            </a:r>
            <a:r>
              <a:rPr lang="es">
                <a:solidFill>
                  <a:schemeClr val="dk2"/>
                </a:solidFill>
              </a:rPr>
              <a:t>Recibe alertas sobre tareas próximas, exámenes importantes y eventos clave.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Sincronización total: </a:t>
            </a:r>
            <a:r>
              <a:rPr lang="es">
                <a:solidFill>
                  <a:schemeClr val="dk2"/>
                </a:solidFill>
              </a:rPr>
              <a:t>Conecta tu agenda con tus calendarios digitales y recibe notificaciones en tiempo real.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Divide tu día eficientemente: </a:t>
            </a:r>
            <a:r>
              <a:rPr lang="es">
                <a:solidFill>
                  <a:schemeClr val="dk2"/>
                </a:solidFill>
              </a:rPr>
              <a:t>Planifica bloques de estudio, actividades extracurriculares y tiempo libre para maximizar tu productividad.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dk2"/>
                </a:solidFill>
              </a:rPr>
              <a:t>Seguimiento de progreso: </a:t>
            </a:r>
            <a:r>
              <a:rPr lang="es">
                <a:solidFill>
                  <a:schemeClr val="dk2"/>
                </a:solidFill>
              </a:rPr>
              <a:t>Marca tareas como completadas y analiza tu eficiencia con reportes semanales.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Plan de negocio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593575" y="290125"/>
            <a:ext cx="8038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40">
                <a:solidFill>
                  <a:srgbClr val="FFFFFF"/>
                </a:solidFill>
              </a:rPr>
              <a:t>Clientes principales</a:t>
            </a:r>
            <a:endParaRPr sz="3040">
              <a:solidFill>
                <a:srgbClr val="FFFFFF"/>
              </a:solidFill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686275" y="1188600"/>
            <a:ext cx="78531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es">
                <a:solidFill>
                  <a:schemeClr val="dk2"/>
                </a:solidFill>
              </a:rPr>
              <a:t>Estudiantes Foráneos</a:t>
            </a:r>
            <a:r>
              <a:rPr lang="es">
                <a:solidFill>
                  <a:schemeClr val="dk2"/>
                </a:solidFill>
              </a:rPr>
              <a:t>: Personas que estudian fuera de su ciudad de origen y necesitan un lugar asequible y accesible para vivir, además de herramientas para organizar su vida diaria.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es">
                <a:solidFill>
                  <a:schemeClr val="dk2"/>
                </a:solidFill>
              </a:rPr>
              <a:t>Propietarios de Alojamiento</a:t>
            </a:r>
            <a:r>
              <a:rPr lang="es">
                <a:solidFill>
                  <a:schemeClr val="dk2"/>
                </a:solidFill>
              </a:rPr>
              <a:t>: Propietarios y agencias que buscan alquilar habitaciones o apartamentos a estudiantes y desean un canal especializado y directo para ofrecer sus propiedades.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593575" y="290125"/>
            <a:ext cx="8038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40">
                <a:solidFill>
                  <a:srgbClr val="FFFFFF"/>
                </a:solidFill>
              </a:rPr>
              <a:t>Canales de Distribución</a:t>
            </a:r>
            <a:endParaRPr sz="3040">
              <a:solidFill>
                <a:srgbClr val="FFFFFF"/>
              </a:solidFill>
            </a:endParaRPr>
          </a:p>
        </p:txBody>
      </p:sp>
      <p:sp>
        <p:nvSpPr>
          <p:cNvPr id="188" name="Google Shape;188;p23"/>
          <p:cNvSpPr txBox="1"/>
          <p:nvPr/>
        </p:nvSpPr>
        <p:spPr>
          <a:xfrm>
            <a:off x="686275" y="1797200"/>
            <a:ext cx="7853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es" sz="1700">
                <a:solidFill>
                  <a:schemeClr val="dk2"/>
                </a:solidFill>
              </a:rPr>
              <a:t>Apps:</a:t>
            </a:r>
            <a:r>
              <a:rPr lang="es" sz="1700">
                <a:solidFill>
                  <a:schemeClr val="dk2"/>
                </a:solidFill>
              </a:rPr>
              <a:t> Disponibilidad en App Store y Google Play.</a:t>
            </a:r>
            <a:endParaRPr sz="1700">
              <a:solidFill>
                <a:schemeClr val="dk2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es" sz="1700">
                <a:solidFill>
                  <a:schemeClr val="dk2"/>
                </a:solidFill>
              </a:rPr>
              <a:t>Redes Sociales:</a:t>
            </a:r>
            <a:r>
              <a:rPr lang="es" sz="1700">
                <a:solidFill>
                  <a:schemeClr val="dk2"/>
                </a:solidFill>
              </a:rPr>
              <a:t> Promoción en Instagram, Facebook y TikTok.</a:t>
            </a:r>
            <a:endParaRPr sz="1700">
              <a:solidFill>
                <a:schemeClr val="dk2"/>
              </a:solidFill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b="1" lang="es" sz="1700">
                <a:solidFill>
                  <a:schemeClr val="dk2"/>
                </a:solidFill>
              </a:rPr>
              <a:t>Universidades:</a:t>
            </a:r>
            <a:r>
              <a:rPr lang="es" sz="1700">
                <a:solidFill>
                  <a:schemeClr val="dk2"/>
                </a:solidFill>
              </a:rPr>
              <a:t> Alianzas para difusión interna y eventos.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593575" y="290125"/>
            <a:ext cx="8038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040">
                <a:solidFill>
                  <a:srgbClr val="FFFFFF"/>
                </a:solidFill>
              </a:rPr>
              <a:t>Fuentes de ingreso</a:t>
            </a:r>
            <a:endParaRPr sz="3040">
              <a:solidFill>
                <a:srgbClr val="FFFFFF"/>
              </a:solidFill>
            </a:endParaRPr>
          </a:p>
        </p:txBody>
      </p:sp>
      <p:sp>
        <p:nvSpPr>
          <p:cNvPr id="194" name="Google Shape;194;p24"/>
          <p:cNvSpPr txBox="1"/>
          <p:nvPr/>
        </p:nvSpPr>
        <p:spPr>
          <a:xfrm>
            <a:off x="686275" y="1188600"/>
            <a:ext cx="78531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s" sz="1300">
                <a:solidFill>
                  <a:schemeClr val="dk2"/>
                </a:solidFill>
              </a:rPr>
              <a:t>Publicidad:</a:t>
            </a:r>
            <a:r>
              <a:rPr lang="es" sz="1300">
                <a:solidFill>
                  <a:schemeClr val="dk2"/>
                </a:solidFill>
              </a:rPr>
              <a:t> Espacios publicitarios dirigidos a estudiantes.</a:t>
            </a:r>
            <a:endParaRPr sz="1300">
              <a:solidFill>
                <a:schemeClr val="dk2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s" sz="1300">
                <a:solidFill>
                  <a:schemeClr val="dk2"/>
                </a:solidFill>
              </a:rPr>
              <a:t>Membresía Premium:</a:t>
            </a:r>
            <a:r>
              <a:rPr lang="es" sz="1300">
                <a:solidFill>
                  <a:schemeClr val="dk2"/>
                </a:solidFill>
              </a:rPr>
              <a:t> Funcionalidades exclusivas y eliminación de anuncios.</a:t>
            </a:r>
            <a:endParaRPr sz="1300">
              <a:solidFill>
                <a:schemeClr val="dk2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s" sz="1300">
                <a:solidFill>
                  <a:schemeClr val="dk2"/>
                </a:solidFill>
              </a:rPr>
              <a:t>Comisiones por Reservas:</a:t>
            </a:r>
            <a:r>
              <a:rPr lang="es" sz="1300">
                <a:solidFill>
                  <a:schemeClr val="dk2"/>
                </a:solidFill>
              </a:rPr>
              <a:t> Tarifas aplicadas a propietarios por transacciones.</a:t>
            </a:r>
            <a:endParaRPr sz="1300">
              <a:solidFill>
                <a:schemeClr val="dk2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s" sz="1300">
                <a:solidFill>
                  <a:schemeClr val="dk2"/>
                </a:solidFill>
              </a:rPr>
              <a:t>Programas de Afiliación:</a:t>
            </a:r>
            <a:r>
              <a:rPr lang="es" sz="1300">
                <a:solidFill>
                  <a:schemeClr val="dk2"/>
                </a:solidFill>
              </a:rPr>
              <a:t> Colaboraciones con negocios locales.</a:t>
            </a:r>
            <a:endParaRPr sz="1300">
              <a:solidFill>
                <a:schemeClr val="dk2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s" sz="1300">
                <a:solidFill>
                  <a:schemeClr val="dk2"/>
                </a:solidFill>
              </a:rPr>
              <a:t>Suscripciones para Propietarios:</a:t>
            </a:r>
            <a:r>
              <a:rPr lang="es" sz="1300">
                <a:solidFill>
                  <a:schemeClr val="dk2"/>
                </a:solidFill>
              </a:rPr>
              <a:t> Destacar propiedades y servicios adicionales.</a:t>
            </a:r>
            <a:endParaRPr sz="1300">
              <a:solidFill>
                <a:schemeClr val="dk2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s" sz="1300">
                <a:solidFill>
                  <a:schemeClr val="dk2"/>
                </a:solidFill>
              </a:rPr>
              <a:t>Venta de Datos Anónimos:</a:t>
            </a:r>
            <a:r>
              <a:rPr lang="es" sz="1300">
                <a:solidFill>
                  <a:schemeClr val="dk2"/>
                </a:solidFill>
              </a:rPr>
              <a:t> Informes de tendencias estudiantiles.</a:t>
            </a:r>
            <a:endParaRPr sz="1300">
              <a:solidFill>
                <a:schemeClr val="dk2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s" sz="1300">
                <a:solidFill>
                  <a:schemeClr val="dk2"/>
                </a:solidFill>
              </a:rPr>
              <a:t>Servicios Financieros:</a:t>
            </a:r>
            <a:r>
              <a:rPr lang="es" sz="1300">
                <a:solidFill>
                  <a:schemeClr val="dk2"/>
                </a:solidFill>
              </a:rPr>
              <a:t> Integración de opciones de pago a plazos.</a:t>
            </a:r>
            <a:endParaRPr sz="1300">
              <a:solidFill>
                <a:schemeClr val="dk2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s" sz="1300">
                <a:solidFill>
                  <a:schemeClr val="dk2"/>
                </a:solidFill>
              </a:rPr>
              <a:t>Integraciones Externas:</a:t>
            </a:r>
            <a:r>
              <a:rPr lang="es" sz="1300">
                <a:solidFill>
                  <a:schemeClr val="dk2"/>
                </a:solidFill>
              </a:rPr>
              <a:t> Servicios como transporte o delivery.</a:t>
            </a:r>
            <a:endParaRPr sz="1300">
              <a:solidFill>
                <a:schemeClr val="dk2"/>
              </a:solidFill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b="1" lang="es" sz="1300">
                <a:solidFill>
                  <a:schemeClr val="dk2"/>
                </a:solidFill>
              </a:rPr>
              <a:t>Crowdfunding:</a:t>
            </a:r>
            <a:r>
              <a:rPr lang="es" sz="1300">
                <a:solidFill>
                  <a:schemeClr val="dk2"/>
                </a:solidFill>
              </a:rPr>
              <a:t> Financiamiento colaborativo para nuevas funciones.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1953201" y="1612650"/>
            <a:ext cx="5000100" cy="9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Desarrollo y </a:t>
            </a:r>
            <a:r>
              <a:rPr b="1" lang="es"/>
              <a:t>metodología</a:t>
            </a:r>
            <a:r>
              <a:rPr b="1" lang="es"/>
              <a:t> 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3498500" y="382900"/>
            <a:ext cx="22821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Scrumban </a:t>
            </a:r>
            <a:endParaRPr b="1" sz="3800"/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421800" y="1069600"/>
            <a:ext cx="4013700" cy="3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Utilizaremos la metodología </a:t>
            </a: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Scrumban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junto con </a:t>
            </a:r>
            <a:r>
              <a:rPr b="1"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Jira</a:t>
            </a: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gestionar el flujo de trabajo de manera ágil. Jira nos permitirá crear un tablero visual con columnas personalizables, establecer límites de trabajo en progreso (WIP) y priorizar tareas de forma dinámica, lo que facilitará la adaptación rápida a cambios. Esta combinación optimiza la colaboración, la visibilidad del progreso y la eficiencia del equipo, garantizando una entrega continua de valor.</a:t>
            </a:r>
            <a:endParaRPr sz="1400"/>
          </a:p>
        </p:txBody>
      </p:sp>
      <p:pic>
        <p:nvPicPr>
          <p:cNvPr id="206" name="Google Shape;2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174" y="1294996"/>
            <a:ext cx="4275652" cy="2553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2633100" y="382900"/>
            <a:ext cx="33465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Tecnologías</a:t>
            </a:r>
            <a:r>
              <a:rPr b="1"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D</a:t>
            </a:r>
            <a:r>
              <a:rPr b="1"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esarrollo</a:t>
            </a:r>
            <a:r>
              <a:rPr b="1"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3800"/>
          </a:p>
        </p:txBody>
      </p:sp>
      <p:sp>
        <p:nvSpPr>
          <p:cNvPr id="212" name="Google Shape;212;p27"/>
          <p:cNvSpPr txBox="1"/>
          <p:nvPr>
            <p:ph idx="1" type="body"/>
          </p:nvPr>
        </p:nvSpPr>
        <p:spPr>
          <a:xfrm>
            <a:off x="421800" y="1069600"/>
            <a:ext cx="7769100" cy="28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Optamos por utilizar el framework Flutter debido a sus notables ventajas frente a otras opciones, entre las que destacan: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Compatibilidad Multiplataforma: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desarrollar para Android, iOS, Web y Desktop desde una única base de código.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Rendimiento Superior: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 motor gráfico Skia asegura una experiencia de usuario fluida y comparable a las aplicaciones nativas.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Alta Personalización: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Facilita la creación de interfaces atractivas y totalmente personalizadas sin sacrificar eficiencia.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Hot Reload (Recarga en Caliente):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Agiliza el proceso de desarrollo al aplicar cambios en tiempo real sin interrumpir el estado actual de la aplicación.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/>
          </a:p>
        </p:txBody>
      </p:sp>
      <p:pic>
        <p:nvPicPr>
          <p:cNvPr id="213" name="Google Shape;2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3535" y="3759825"/>
            <a:ext cx="2783014" cy="10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MVP y Prototipo 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2633100" y="382900"/>
            <a:ext cx="33465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2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Mockups </a:t>
            </a:r>
            <a:endParaRPr b="1" sz="252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3800"/>
          </a:p>
        </p:txBody>
      </p:sp>
      <p:pic>
        <p:nvPicPr>
          <p:cNvPr id="224" name="Google Shape;2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25" y="972700"/>
            <a:ext cx="1496100" cy="33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4525" y="972700"/>
            <a:ext cx="1543385" cy="338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3800" y="962063"/>
            <a:ext cx="1543375" cy="3406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40425" y="972700"/>
            <a:ext cx="1543375" cy="3406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2633100" y="382900"/>
            <a:ext cx="33465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2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Mockups </a:t>
            </a:r>
            <a:endParaRPr b="1" sz="252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3800"/>
          </a:p>
        </p:txBody>
      </p:sp>
      <p:pic>
        <p:nvPicPr>
          <p:cNvPr id="233" name="Google Shape;2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00" y="928701"/>
            <a:ext cx="1646750" cy="35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175" y="928700"/>
            <a:ext cx="1646750" cy="3652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8975" y="972700"/>
            <a:ext cx="1646750" cy="365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6000" y="928700"/>
            <a:ext cx="1646750" cy="36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2633100" y="382900"/>
            <a:ext cx="33465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22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Mockups </a:t>
            </a:r>
            <a:endParaRPr b="1" sz="2522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3800"/>
          </a:p>
        </p:txBody>
      </p:sp>
      <p:pic>
        <p:nvPicPr>
          <p:cNvPr id="242" name="Google Shape;2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725" y="972700"/>
            <a:ext cx="1659800" cy="36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3100" y="972700"/>
            <a:ext cx="1659800" cy="3653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1475" y="972700"/>
            <a:ext cx="1659800" cy="3641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9850" y="985852"/>
            <a:ext cx="1659800" cy="3636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